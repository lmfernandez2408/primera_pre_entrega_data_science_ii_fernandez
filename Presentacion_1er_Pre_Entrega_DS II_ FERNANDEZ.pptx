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70" r:id="rId9"/>
    <p:sldId id="271" r:id="rId10"/>
    <p:sldId id="274" r:id="rId11"/>
    <p:sldId id="261" r:id="rId12"/>
    <p:sldId id="262" r:id="rId13"/>
    <p:sldId id="27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858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9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111" y="798703"/>
            <a:ext cx="3915889" cy="3072015"/>
          </a:xfrm>
        </p:spPr>
        <p:txBody>
          <a:bodyPr anchor="b">
            <a:normAutofit/>
          </a:bodyPr>
          <a:lstStyle/>
          <a:p>
            <a:r>
              <a:rPr lang="en-US"/>
              <a:t>Accidentes de Buses en Londres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611" y="4244717"/>
            <a:ext cx="3915888" cy="2102108"/>
          </a:xfrm>
        </p:spPr>
        <p:txBody>
          <a:bodyPr anchor="t">
            <a:normAutofit/>
          </a:bodyPr>
          <a:lstStyle/>
          <a:p>
            <a:r>
              <a:rPr lang="es-ES" dirty="0"/>
              <a:t>Análisis Exploratorio y Modelos Predictivos</a:t>
            </a:r>
          </a:p>
        </p:txBody>
      </p:sp>
      <p:sp>
        <p:nvSpPr>
          <p:cNvPr id="1052" name="Freeform: Shape 1051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3044" y="0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9" name="Freeform: Shape 104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502" y="1"/>
            <a:ext cx="866356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1" name="Freeform: Shape 105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4194" y="2916245"/>
            <a:ext cx="119806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3" name="Freeform: Shape 105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1330" y="5717906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5" name="Freeform: Shape 105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5633" y="6258756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57" name="Freeform: Shape 105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2865" y="5835650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F953269-A525-1A8E-70F9-BBD2FEF915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81" b="19695"/>
          <a:stretch>
            <a:fillRect/>
          </a:stretch>
        </p:blipFill>
        <p:spPr bwMode="auto">
          <a:xfrm>
            <a:off x="3940597" y="2539241"/>
            <a:ext cx="4953000" cy="177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Abstracto, Motivación y Audiencia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/>
              <a:t>Este proyecto analiza accidentes de buses en Londres para identificar patrones y predecir incidentes.</a:t>
            </a:r>
          </a:p>
          <a:p>
            <a:pPr>
              <a:lnSpc>
                <a:spcPct val="90000"/>
              </a:lnSpc>
            </a:pPr>
            <a:r>
              <a:rPr lang="es-ES"/>
              <a:t>Motivación: mejorar la seguridad y eficiencia del transporte público.</a:t>
            </a:r>
          </a:p>
          <a:p>
            <a:pPr>
              <a:lnSpc>
                <a:spcPct val="90000"/>
              </a:lnSpc>
            </a:pPr>
            <a:r>
              <a:rPr lang="es-ES"/>
              <a:t>Audiencia: empresas de transporte, analistas y organismos públicos.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690F3B1-BDAA-8603-1B8B-D00CA9DB2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t="9530" r="6561" b="18860"/>
          <a:stretch>
            <a:fillRect/>
          </a:stretch>
        </p:blipFill>
        <p:spPr bwMode="auto">
          <a:xfrm>
            <a:off x="0" y="4948177"/>
            <a:ext cx="3599727" cy="1909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Resumen de Metadata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000"/>
              <a:t>Dataset con miles de registros.</a:t>
            </a:r>
          </a:p>
          <a:p>
            <a:pPr>
              <a:lnSpc>
                <a:spcPct val="90000"/>
              </a:lnSpc>
            </a:pPr>
            <a:r>
              <a:rPr lang="es-ES" sz="3000"/>
              <a:t>Variables categóricas: tipo de incidente, clima, experiencia.</a:t>
            </a:r>
          </a:p>
          <a:p>
            <a:pPr>
              <a:lnSpc>
                <a:spcPct val="90000"/>
              </a:lnSpc>
            </a:pPr>
            <a:r>
              <a:rPr lang="es-ES" sz="3000"/>
              <a:t>Variables temporales: fecha y hora.</a:t>
            </a:r>
          </a:p>
          <a:p>
            <a:pPr>
              <a:lnSpc>
                <a:spcPct val="90000"/>
              </a:lnSpc>
            </a:pPr>
            <a:r>
              <a:rPr lang="es-ES" sz="3000"/>
              <a:t>Variables de contexto: tipo de víctima y carga.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Bus with solid fill">
            <a:extLst>
              <a:ext uri="{FF2B5EF4-FFF2-40B4-BE49-F238E27FC236}">
                <a16:creationId xmlns:a16="http://schemas.microsoft.com/office/drawing/2014/main" id="{36A5C190-733A-1764-FF13-8030CB6BB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7001" y="5519136"/>
            <a:ext cx="1157312" cy="1157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Preguntas / Hipótesis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000" dirty="0"/>
              <a:t>Factores que influyen en incidentes</a:t>
            </a:r>
          </a:p>
          <a:p>
            <a:pPr>
              <a:lnSpc>
                <a:spcPct val="90000"/>
              </a:lnSpc>
            </a:pPr>
            <a:r>
              <a:rPr lang="es-ES" sz="3000" dirty="0"/>
              <a:t>Impacto del clima</a:t>
            </a:r>
          </a:p>
          <a:p>
            <a:pPr>
              <a:lnSpc>
                <a:spcPct val="90000"/>
              </a:lnSpc>
            </a:pPr>
            <a:r>
              <a:rPr lang="es-ES" sz="3000" dirty="0"/>
              <a:t>Influencia del horario</a:t>
            </a:r>
          </a:p>
          <a:p>
            <a:pPr>
              <a:lnSpc>
                <a:spcPct val="90000"/>
              </a:lnSpc>
            </a:pPr>
            <a:r>
              <a:rPr lang="es-ES" sz="3000" dirty="0"/>
              <a:t>Rol del tipo de víctima</a:t>
            </a:r>
          </a:p>
          <a:p>
            <a:pPr>
              <a:lnSpc>
                <a:spcPct val="90000"/>
              </a:lnSpc>
            </a:pPr>
            <a:r>
              <a:rPr lang="es-ES" sz="3000" dirty="0"/>
              <a:t>Impacto de la experiencia del conductor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2D517EDC-ACA4-AC09-12A6-813F3782D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5388" y="1689117"/>
            <a:ext cx="2835788" cy="283578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536887" y="795372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1360"/>
            <a:ext cx="4152297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/>
              <a:t>Distribución de incidentes</a:t>
            </a:r>
          </a:p>
          <a:p>
            <a:pPr>
              <a:lnSpc>
                <a:spcPct val="90000"/>
              </a:lnSpc>
            </a:pPr>
            <a:r>
              <a:rPr lang="es-ES" sz="2700"/>
              <a:t>Clima vs incidente</a:t>
            </a:r>
          </a:p>
          <a:p>
            <a:pPr>
              <a:lnSpc>
                <a:spcPct val="90000"/>
              </a:lnSpc>
            </a:pPr>
            <a:r>
              <a:rPr lang="es-ES" sz="2700"/>
              <a:t>Hora del día vs incidente</a:t>
            </a:r>
          </a:p>
          <a:p>
            <a:pPr>
              <a:lnSpc>
                <a:spcPct val="90000"/>
              </a:lnSpc>
            </a:pPr>
            <a:r>
              <a:rPr lang="es-ES" sz="2700"/>
              <a:t>Tipo de víctima vs incidente</a:t>
            </a:r>
          </a:p>
          <a:p>
            <a:pPr>
              <a:lnSpc>
                <a:spcPct val="90000"/>
              </a:lnSpc>
            </a:pPr>
            <a:r>
              <a:rPr lang="es-ES" sz="2700"/>
              <a:t>Experiencia del conductor vs incidente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4297" y="1119031"/>
            <a:ext cx="3464953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8095" y="4737713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5710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Visualizaciones Clave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0BAFD-EB0C-C2B4-38C7-BB3F0E18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F8CED19-20ED-7006-47CB-FB28D97F1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AFF6986-7A3D-9848-E594-C0450E4D8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E28C78-3FB1-2FF4-C57D-D9B11AD49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DA2877-C6CE-D5EE-F68A-93993F373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D982A9-A616-985B-3A0E-8CC4F7C77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6174B73-5886-1024-AF97-5A734BE25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632E84D-BE7E-9B5B-6138-507FA0E95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19CD7CF-85DE-B962-6A56-D3D98712C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66142-C1B4-F6E2-47C2-8A6D4AE81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06" y="1909761"/>
            <a:ext cx="2800397" cy="28003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498C6A-FCA2-C84F-528D-DF975AAA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19" y="308183"/>
            <a:ext cx="6192114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1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338C5-BECE-1B6C-8788-7AFDE97A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5360822-E0AA-6F60-1400-E6C7FFB05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FD7A291-3978-8C62-42E1-0235F2633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CAD4CCF-A531-D1D4-9D8A-67F2EBB6E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2A48081-2FB1-21FD-F702-7425DB044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15E5D9-574A-B575-AA4B-B4521A3FB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668426B-C2FD-BC63-490D-20545204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7D23FA7-75D8-799B-F8A6-13A7E6137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3649507-532B-9494-447D-BFFCC31CC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9D48F-C210-7DC2-31C9-BEACC7D15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06" y="1909761"/>
            <a:ext cx="2800397" cy="28003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A7EA40-F553-166E-4332-2843BF0E9E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8"/>
          <a:stretch>
            <a:fillRect/>
          </a:stretch>
        </p:blipFill>
        <p:spPr>
          <a:xfrm>
            <a:off x="229424" y="709233"/>
            <a:ext cx="6154541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1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7D25D-5716-8DC2-3479-AA9E0770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6BAFED-B7D6-2C59-C3D4-8F503728D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D171251-3BDB-E3A2-371B-D13955EA4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43BA9B-F1D2-7147-5B69-FD47313C8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FF7E82-BCFB-B1F3-BE26-C449F3887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0453C1-2F67-3CA4-0E25-45A1E2F81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AC27AA7-4CBC-4E8E-B434-8AA914BC1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970C8E-93E7-9EAE-90E1-A244E014D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9FDE378-7AF1-C00B-0680-2690D610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93D58-A98A-07F9-F4E0-86B1C30B4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06" y="1909761"/>
            <a:ext cx="2800397" cy="28003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A57F68-1E47-A67C-782F-E391E9F01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08" y="625028"/>
            <a:ext cx="6173061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79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5237E-0D57-8822-7596-DA6B7C31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547F115-ACC1-CDC6-750A-AAEF45303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0930B7D-BA46-23F3-0EC2-9233C0205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DF69D64-13EE-9930-84B3-6A0985528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71C23EF-8A46-110E-1CAA-6489382E5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D9D196-577F-6964-DD28-D3AB32D0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4237320-C996-8158-4E99-13F07BAE3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2B7FDCD-D75A-9A97-0382-8405C2EEC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5BC597D-146A-599F-35C9-C504933C2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41AE2-DB59-EA57-6D68-D41B0C8FB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06" y="1909761"/>
            <a:ext cx="2800397" cy="28003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ED7C6A-742B-D2C7-1452-895702B98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97" y="833737"/>
            <a:ext cx="5652456" cy="5855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147A7D-A784-C3B4-30B7-43C49EEC0A41}"/>
              </a:ext>
            </a:extLst>
          </p:cNvPr>
          <p:cNvSpPr txBox="1"/>
          <p:nvPr/>
        </p:nvSpPr>
        <p:spPr>
          <a:xfrm>
            <a:off x="352104" y="279036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Tipo de víctima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2211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A65B7-7DB1-6DD3-D903-76DF9B7B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F798E2-E60B-4DB9-E56A-8D5CA0172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6EB4C74-98FB-45B4-C7B1-9EDA7DFA8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992" y="1"/>
            <a:ext cx="866357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76C783-13C3-1962-224E-C11975837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6138" y="3423959"/>
            <a:ext cx="405617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835A6B3-31C3-1454-20E0-6F436F4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2201" y="1"/>
            <a:ext cx="1550211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3257DE3-945C-D797-1250-301FB9E0B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04058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09DB485-CC6C-1621-C1BB-219EAD83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5592435" y="5166682"/>
            <a:ext cx="1376793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D65EE43-7D6F-8C18-1BAF-92DD96CE6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7145" y="6033795"/>
            <a:ext cx="1493298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9ADEB8D-FA79-CD0F-C061-29438C483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8772" y="5519196"/>
            <a:ext cx="1005228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9DCB1F-FDE3-045C-1850-E34B8BB5A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06" y="1909761"/>
            <a:ext cx="2800397" cy="2800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15147C-0AFD-8A07-3BF9-1B9817157E16}"/>
              </a:ext>
            </a:extLst>
          </p:cNvPr>
          <p:cNvSpPr txBox="1"/>
          <p:nvPr/>
        </p:nvSpPr>
        <p:spPr>
          <a:xfrm>
            <a:off x="352104" y="279036"/>
            <a:ext cx="4041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Experiencia del conductor</a:t>
            </a:r>
            <a:endParaRPr lang="en-US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16BE32-BAC4-FFB7-76A2-961A9C1EC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06" y="1058523"/>
            <a:ext cx="6106377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09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Modelo Predictivo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500"/>
              <a:t>Se entrenó un modelo Random Forest.</a:t>
            </a:r>
          </a:p>
          <a:p>
            <a:pPr>
              <a:lnSpc>
                <a:spcPct val="90000"/>
              </a:lnSpc>
            </a:pPr>
            <a:r>
              <a:rPr lang="es-ES" sz="2500"/>
              <a:t>Accuracy alcanzado: ~0.97 (con SMOTE).</a:t>
            </a:r>
          </a:p>
          <a:p>
            <a:pPr>
              <a:lnSpc>
                <a:spcPct val="90000"/>
              </a:lnSpc>
            </a:pPr>
            <a:r>
              <a:rPr lang="es-ES" sz="2500"/>
              <a:t>Buen desempeño en clases mayoritarias.</a:t>
            </a:r>
          </a:p>
          <a:p>
            <a:pPr>
              <a:lnSpc>
                <a:spcPct val="90000"/>
              </a:lnSpc>
            </a:pPr>
            <a:r>
              <a:rPr lang="es-ES" sz="2500"/>
              <a:t>Dificultad en clases minoritarias.</a:t>
            </a:r>
          </a:p>
          <a:p>
            <a:pPr>
              <a:lnSpc>
                <a:spcPct val="90000"/>
              </a:lnSpc>
            </a:pPr>
            <a:r>
              <a:rPr lang="es-ES" sz="2500"/>
              <a:t>El desbalance de datos afecta el rendimiento.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Insights y posibles conclusiones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700"/>
              <a:t>Los incidentes se concentran en lesiones a bordo y caídas.</a:t>
            </a:r>
          </a:p>
          <a:p>
            <a:pPr>
              <a:lnSpc>
                <a:spcPct val="90000"/>
              </a:lnSpc>
            </a:pPr>
            <a:r>
              <a:rPr lang="es-ES" sz="2700"/>
              <a:t>Los pasajeros son los más afectados.</a:t>
            </a:r>
          </a:p>
          <a:p>
            <a:pPr>
              <a:lnSpc>
                <a:spcPct val="90000"/>
              </a:lnSpc>
            </a:pPr>
            <a:r>
              <a:rPr lang="es-ES" sz="2700"/>
              <a:t>El clima y la hora tienen impacto moderado.</a:t>
            </a:r>
          </a:p>
          <a:p>
            <a:pPr>
              <a:lnSpc>
                <a:spcPct val="90000"/>
              </a:lnSpc>
            </a:pPr>
            <a:r>
              <a:rPr lang="es-ES" sz="2700"/>
              <a:t>La experiencia del conductor no es determinante.</a:t>
            </a:r>
          </a:p>
          <a:p>
            <a:pPr>
              <a:lnSpc>
                <a:spcPct val="90000"/>
              </a:lnSpc>
            </a:pPr>
            <a:r>
              <a:rPr lang="es-ES" sz="2700"/>
              <a:t>Factores operativos predominan.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AF346-CAAA-1921-69DD-5E30F1EB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B634F-AEEE-8C0E-A950-8683D543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Insights y posibles conclusiones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0143A-62B4-C80F-F453-3A6B7B11B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92500" lnSpcReduction="10000"/>
          </a:bodyPr>
          <a:lstStyle/>
          <a:p>
            <a:r>
              <a:rPr lang="es-ES" sz="2800" dirty="0"/>
              <a:t>En base a todo el análisis, se puede decir que mejorar la seguridad en el transporte público no depende solamente de factores externos como el clima o el horario, sino que está mucho más relacionado con cómo funciona el servicio en sí y con la forma en que los pasajeros interactúan dentro del bus. En este sentido, los modelos predictivos ayudan a detectar estos patrones y se vuelven una herramienta útil para tomar decisiones más informadas y basadas en datos.</a:t>
            </a:r>
          </a:p>
        </p:txBody>
      </p:sp>
    </p:spTree>
    <p:extLst>
      <p:ext uri="{BB962C8B-B14F-4D97-AF65-F5344CB8AC3E}">
        <p14:creationId xmlns:p14="http://schemas.microsoft.com/office/powerpoint/2010/main" val="1360653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312</Words>
  <Application>Microsoft Office PowerPoint</Application>
  <PresentationFormat>On-screen Show (4:3)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Accidentes de Buses en Londres</vt:lpstr>
      <vt:lpstr>Abstracto, Motivación y Audiencia</vt:lpstr>
      <vt:lpstr>Resumen de Metadata</vt:lpstr>
      <vt:lpstr>Preguntas / Hipótesis</vt:lpstr>
      <vt:lpstr>Visualizaciones Clave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Modelo Predictivo</vt:lpstr>
      <vt:lpstr>Insights y posibles conclusiones</vt:lpstr>
      <vt:lpstr>Insights y posibles 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Lucía Fernández</cp:lastModifiedBy>
  <cp:revision>3</cp:revision>
  <dcterms:created xsi:type="dcterms:W3CDTF">2013-01-27T09:14:16Z</dcterms:created>
  <dcterms:modified xsi:type="dcterms:W3CDTF">2026-03-19T23:59:51Z</dcterms:modified>
  <cp:category/>
</cp:coreProperties>
</file>